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91" r:id="rId9"/>
    <p:sldId id="262" r:id="rId10"/>
    <p:sldId id="264" r:id="rId11"/>
    <p:sldId id="290" r:id="rId12"/>
    <p:sldId id="292" r:id="rId13"/>
    <p:sldId id="293"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51658654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     </a:t>
                      </a:r>
                      <a:r>
                        <a:rPr lang="en-US" sz="1600" dirty="0"/>
                        <a:t>Srinidhi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400" dirty="0"/>
                    </a:p>
                    <a:p>
                      <a:pPr marL="0" marR="0" lvl="0" indent="0" algn="l" rtl="0">
                        <a:spcBef>
                          <a:spcPts val="0"/>
                        </a:spcBef>
                        <a:spcAft>
                          <a:spcPts val="0"/>
                        </a:spcAft>
                        <a:buNone/>
                      </a:pPr>
                      <a:endParaRPr lang="en-US" sz="1400" dirty="0"/>
                    </a:p>
                    <a:p>
                      <a:pPr marL="0" marR="0" lvl="0" indent="0" algn="l" rtl="0">
                        <a:spcBef>
                          <a:spcPts val="0"/>
                        </a:spcBef>
                        <a:spcAft>
                          <a:spcPts val="0"/>
                        </a:spcAft>
                        <a:buNone/>
                      </a:pPr>
                      <a:r>
                        <a:rPr lang="en-US" sz="1400" dirty="0"/>
                        <a:t>srinidhishapur@gmail.com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9740829044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2" y="1499352"/>
            <a:ext cx="10280254" cy="461665"/>
          </a:xfrm>
          <a:prstGeom prst="rect">
            <a:avLst/>
          </a:prstGeom>
          <a:noFill/>
        </p:spPr>
        <p:txBody>
          <a:bodyPr wrap="square" rtlCol="0">
            <a:spAutoFit/>
          </a:bodyPr>
          <a:lstStyle/>
          <a:p>
            <a:r>
              <a:rPr lang="en-US" sz="2400" b="1" dirty="0"/>
              <a:t>Domain of  Project – [</a:t>
            </a:r>
            <a:r>
              <a:rPr lang="en-IN" sz="2400" dirty="0"/>
              <a:t>Agentic AI and Intelligent Agents</a:t>
            </a:r>
            <a:r>
              <a:rPr lang="en-US" sz="2400" b="1" dirty="0"/>
              <a:t> ]</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a:t>Smart Study Generator Agent</a:t>
            </a:r>
            <a:r>
              <a:rPr lang="en-US" sz="2400" b="1" dirty="0"/>
              <a:t>]</a:t>
            </a:r>
            <a:endParaRPr lang="en-IN" sz="2400" b="1" dirty="0"/>
          </a:p>
        </p:txBody>
      </p:sp>
      <p:pic>
        <p:nvPicPr>
          <p:cNvPr id="5" name="Picture 4">
            <a:extLst>
              <a:ext uri="{FF2B5EF4-FFF2-40B4-BE49-F238E27FC236}">
                <a16:creationId xmlns:a16="http://schemas.microsoft.com/office/drawing/2014/main" id="{85F30EAF-B1C6-E6FD-2D6D-EC1FC673D941}"/>
              </a:ext>
            </a:extLst>
          </p:cNvPr>
          <p:cNvPicPr>
            <a:picLocks noChangeAspect="1"/>
          </p:cNvPicPr>
          <p:nvPr/>
        </p:nvPicPr>
        <p:blipFill>
          <a:blip r:embed="rId3"/>
          <a:srcRect l="2433" t="2580" r="2072"/>
          <a:stretch>
            <a:fillRect/>
          </a:stretch>
        </p:blipFill>
        <p:spPr>
          <a:xfrm>
            <a:off x="4168879" y="3608439"/>
            <a:ext cx="907418" cy="11590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216310" y="900282"/>
            <a:ext cx="11749548" cy="5755422"/>
          </a:xfrm>
          <a:prstGeom prst="rect">
            <a:avLst/>
          </a:prstGeom>
          <a:noFill/>
        </p:spPr>
        <p:txBody>
          <a:bodyPr wrap="square" rtlCol="0">
            <a:spAutoFit/>
          </a:bodyPr>
          <a:lstStyle/>
          <a:p>
            <a:r>
              <a:rPr lang="en-IN" sz="1600" b="1" dirty="0"/>
              <a:t>Problem Statement : Smart Study Generator Agent</a:t>
            </a:r>
          </a:p>
          <a:p>
            <a:endParaRPr lang="en-IN" sz="1600" dirty="0"/>
          </a:p>
          <a:p>
            <a:r>
              <a:rPr lang="en-IN" sz="1600" b="1" dirty="0"/>
              <a:t>The Challenge</a:t>
            </a:r>
            <a:endParaRPr lang="en-IN" sz="1600" dirty="0"/>
          </a:p>
          <a:p>
            <a:r>
              <a:rPr lang="en-IN" sz="1600"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endParaRPr lang="en-IN" sz="1600" dirty="0"/>
          </a:p>
          <a:p>
            <a:r>
              <a:rPr lang="en-IN" sz="1600" b="1" dirty="0"/>
              <a:t>The Objective</a:t>
            </a:r>
            <a:endParaRPr lang="en-IN" sz="1600" dirty="0"/>
          </a:p>
          <a:p>
            <a:r>
              <a:rPr lang="en-IN" sz="1600" dirty="0"/>
              <a:t>Build an agentic AI-powered Smart Study Generator that personalizes and streamlines learning for students. The solution should:</a:t>
            </a:r>
          </a:p>
          <a:p>
            <a:endParaRPr lang="en-IN" sz="1600" dirty="0"/>
          </a:p>
          <a:p>
            <a:pPr marL="285750" lvl="0" indent="-285750">
              <a:buFont typeface="Arial" panose="020B0604020202020204" pitchFamily="34" charset="0"/>
              <a:buChar char="•"/>
            </a:pPr>
            <a:r>
              <a:rPr lang="en-IN" sz="1600" b="1" dirty="0"/>
              <a:t>Fuse Learning Resources: </a:t>
            </a:r>
            <a:r>
              <a:rPr lang="en-IN" sz="1600" dirty="0"/>
              <a:t>Aggregate content from class notes, textbooks, research articles, and online tutorials into structured, easy-to-digest study material.</a:t>
            </a:r>
          </a:p>
          <a:p>
            <a:pPr marL="285750" lvl="0" indent="-285750">
              <a:buFont typeface="Arial" panose="020B0604020202020204" pitchFamily="34" charset="0"/>
              <a:buChar char="•"/>
            </a:pPr>
            <a:r>
              <a:rPr lang="en-IN" sz="1600" b="1" dirty="0"/>
              <a:t>Enable Multimodal Input:</a:t>
            </a:r>
            <a:r>
              <a:rPr lang="en-IN" sz="1600" dirty="0"/>
              <a:t> Allow students to upload notes, voice queries, or images (e.g., textbook pages), and generate concise summaries, flashcards, or concept maps.</a:t>
            </a:r>
          </a:p>
          <a:p>
            <a:pPr marL="285750" lvl="0" indent="-285750">
              <a:buFont typeface="Arial" panose="020B0604020202020204" pitchFamily="34" charset="0"/>
              <a:buChar char="•"/>
            </a:pPr>
            <a:r>
              <a:rPr lang="en-IN" sz="1600" b="1" dirty="0"/>
              <a:t>Create a Predictive &amp; Agentic Layer:</a:t>
            </a:r>
            <a:r>
              <a:rPr lang="en-IN" sz="1600" dirty="0"/>
              <a:t> Recommend personalized study plans, highlight important topics based on syllabus or past exams, and provide predictive alerts (e.g., “Focus on Topic X—frequently asked in exams”).</a:t>
            </a:r>
          </a:p>
          <a:p>
            <a:pPr marL="285750" lvl="0" indent="-285750">
              <a:buFont typeface="Arial" panose="020B0604020202020204" pitchFamily="34" charset="0"/>
              <a:buChar char="•"/>
            </a:pPr>
            <a:r>
              <a:rPr lang="en-IN" sz="1600" b="1" dirty="0"/>
              <a:t>Visualize Study Progress:</a:t>
            </a:r>
            <a:r>
              <a:rPr lang="en-IN" sz="1600" dirty="0"/>
              <a:t> Offer a real-time dashboard showing learning milestones, weak areas, practice quizzes, and performance forecasts.</a:t>
            </a:r>
          </a:p>
          <a:p>
            <a:pPr marL="285750" indent="-285750">
              <a:buFont typeface="Arial" panose="020B0604020202020204" pitchFamily="34" charset="0"/>
              <a:buChar char="•"/>
            </a:pPr>
            <a:r>
              <a:rPr lang="en-IN" sz="1600" b="1" dirty="0"/>
              <a:t>Tech Stack (Mandatory)</a:t>
            </a:r>
            <a:endParaRPr lang="en-IN" sz="1600" dirty="0"/>
          </a:p>
          <a:p>
            <a:pPr marL="285750" lvl="0" indent="-285750">
              <a:buFont typeface="Arial" panose="020B0604020202020204" pitchFamily="34" charset="0"/>
              <a:buChar char="•"/>
            </a:pPr>
            <a:r>
              <a:rPr lang="en-IN" sz="1600" dirty="0"/>
              <a:t>IBM </a:t>
            </a:r>
            <a:r>
              <a:rPr lang="en-IN" sz="1600" dirty="0" err="1"/>
              <a:t>Langflow</a:t>
            </a:r>
            <a:r>
              <a:rPr lang="en-IN" sz="1600" dirty="0"/>
              <a:t> / IBM Orchestrate + IBM Models</a:t>
            </a:r>
          </a:p>
        </p:txBody>
      </p:sp>
      <p:sp>
        <p:nvSpPr>
          <p:cNvPr id="3" name="TextBox 2">
            <a:extLst>
              <a:ext uri="{FF2B5EF4-FFF2-40B4-BE49-F238E27FC236}">
                <a16:creationId xmlns:a16="http://schemas.microsoft.com/office/drawing/2014/main" id="{3847FA31-EA47-D27A-9D69-AF50A3080AEC}"/>
              </a:ext>
            </a:extLst>
          </p:cNvPr>
          <p:cNvSpPr txBox="1"/>
          <p:nvPr/>
        </p:nvSpPr>
        <p:spPr>
          <a:xfrm>
            <a:off x="216310" y="300965"/>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147483" y="693666"/>
            <a:ext cx="11857704" cy="6247864"/>
          </a:xfrm>
          <a:prstGeom prst="rect">
            <a:avLst/>
          </a:prstGeom>
          <a:noFill/>
        </p:spPr>
        <p:txBody>
          <a:bodyPr wrap="square" rtlCol="0">
            <a:spAutoFit/>
          </a:bodyPr>
          <a:lstStyle/>
          <a:p>
            <a:r>
              <a:rPr lang="en-IN" sz="1600" b="1" dirty="0"/>
              <a:t>Solution – Smart Study Generator Agent </a:t>
            </a:r>
          </a:p>
          <a:p>
            <a:endParaRPr lang="en-IN" sz="1600" b="1" dirty="0"/>
          </a:p>
          <a:p>
            <a:r>
              <a:rPr lang="en-IN" sz="1600" dirty="0"/>
              <a:t>We propose an </a:t>
            </a:r>
            <a:r>
              <a:rPr lang="en-IN" sz="1600" b="1" dirty="0"/>
              <a:t>AI-powered Smart Study Generator Agent</a:t>
            </a:r>
            <a:r>
              <a:rPr lang="en-IN" sz="1600" dirty="0"/>
              <a:t> that helps students plan their studies, prepare learning materials, and get ready for examinations in an organized way. The system uses AI to create personalized study plans based on students' subjects, goals, available study time, and exam dates.</a:t>
            </a:r>
          </a:p>
          <a:p>
            <a:endParaRPr lang="en-IN" sz="1600" dirty="0"/>
          </a:p>
          <a:p>
            <a:pPr marL="342900" indent="-342900">
              <a:buAutoNum type="arabicPeriod"/>
            </a:pPr>
            <a:r>
              <a:rPr lang="en-IN" sz="1600" b="1" dirty="0"/>
              <a:t>Personalized Study Plans:</a:t>
            </a:r>
            <a:r>
              <a:rPr lang="en-IN" sz="1600" dirty="0"/>
              <a:t> Generates daily and weekly study schedules, helping students manage their time and complete important topics before exams.</a:t>
            </a:r>
          </a:p>
          <a:p>
            <a:pPr marL="342900" indent="-342900">
              <a:buAutoNum type="arabicPeriod"/>
            </a:pPr>
            <a:endParaRPr lang="en-IN" sz="1600" dirty="0"/>
          </a:p>
          <a:p>
            <a:r>
              <a:rPr lang="en-IN" sz="1600" b="1" dirty="0"/>
              <a:t>2. AI-Powered Notes Generation:</a:t>
            </a:r>
            <a:r>
              <a:rPr lang="en-IN" sz="1600" dirty="0"/>
              <a:t> Converts uploaded PDF and text materials into simple summaries, important points, and easy-to-understand notes.</a:t>
            </a:r>
          </a:p>
          <a:p>
            <a:endParaRPr lang="en-IN" sz="1600" dirty="0"/>
          </a:p>
          <a:p>
            <a:r>
              <a:rPr lang="en-IN" sz="1600" b="1" dirty="0"/>
              <a:t>3. Automatic Quiz Generation:</a:t>
            </a:r>
            <a:r>
              <a:rPr lang="en-IN" sz="1600" dirty="0"/>
              <a:t> Creates MCQs, practice questions, and flashcards from study materials to help students test their knowledge and improve understanding.</a:t>
            </a:r>
          </a:p>
          <a:p>
            <a:endParaRPr lang="en-IN" sz="1600" dirty="0"/>
          </a:p>
          <a:p>
            <a:r>
              <a:rPr lang="en-IN" sz="1600" b="1" dirty="0"/>
              <a:t>4. Progress Tracking:</a:t>
            </a:r>
            <a:r>
              <a:rPr lang="en-IN" sz="1600" dirty="0"/>
              <a:t> Tracks completed tasks and quiz scores through a dashboard, allowing students to monitor their preparation.</a:t>
            </a:r>
          </a:p>
          <a:p>
            <a:endParaRPr lang="en-IN" sz="1600" dirty="0"/>
          </a:p>
          <a:p>
            <a:r>
              <a:rPr lang="en-IN" sz="1600" b="1" dirty="0"/>
              <a:t>5. Smart Revision Recommendations:</a:t>
            </a:r>
            <a:r>
              <a:rPr lang="en-IN" sz="1600" dirty="0"/>
              <a:t> Identifies topics that need more attention based on student progress and quiz performance, helping students focus on weaker areas.</a:t>
            </a:r>
          </a:p>
          <a:p>
            <a:endParaRPr lang="en-IN" sz="1600" dirty="0"/>
          </a:p>
          <a:p>
            <a:r>
              <a:rPr lang="en-IN" sz="1600" b="1" dirty="0"/>
              <a:t>6. IBM AI Integration:</a:t>
            </a:r>
            <a:r>
              <a:rPr lang="en-IN" sz="1600" dirty="0"/>
              <a:t> Uses IBM AI services to support content summarization, study plan generation, and quiz creation.</a:t>
            </a:r>
          </a:p>
          <a:p>
            <a:endParaRPr lang="en-IN" sz="1600" dirty="0"/>
          </a:p>
          <a:p>
            <a:r>
              <a:rPr lang="en-IN" sz="1600" b="1" dirty="0"/>
              <a:t>Expected Outcome:</a:t>
            </a:r>
            <a:r>
              <a:rPr lang="en-IN" sz="1600" dirty="0"/>
              <a:t> The system saves study-planning time, improves time management, encourages regular revision, and provides students with a more personalized and effective learning experience.</a:t>
            </a:r>
          </a:p>
        </p:txBody>
      </p:sp>
      <p:sp>
        <p:nvSpPr>
          <p:cNvPr id="3" name="TextBox 2">
            <a:extLst>
              <a:ext uri="{FF2B5EF4-FFF2-40B4-BE49-F238E27FC236}">
                <a16:creationId xmlns:a16="http://schemas.microsoft.com/office/drawing/2014/main" id="{527F30CC-07EF-8FCC-DA00-C9212F5DAECE}"/>
              </a:ext>
            </a:extLst>
          </p:cNvPr>
          <p:cNvSpPr txBox="1"/>
          <p:nvPr/>
        </p:nvSpPr>
        <p:spPr>
          <a:xfrm>
            <a:off x="147483" y="124607"/>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3025462" cy="4124206"/>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Start.py</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pPr marL="342900" indent="-342900">
              <a:buFont typeface="+mj-lt"/>
              <a:buAutoNum type="arabicPeriod"/>
            </a:pPr>
            <a:endParaRPr lang="en-US" sz="1800" dirty="0"/>
          </a:p>
          <a:p>
            <a:pPr marL="342900" indent="-342900">
              <a:buFont typeface="+mj-lt"/>
              <a:buAutoNum type="arabicPeriod"/>
            </a:pPr>
            <a:r>
              <a:rPr lang="en-US" sz="1800" dirty="0"/>
              <a:t>Style.css</a:t>
            </a:r>
          </a:p>
          <a:p>
            <a:pPr marL="342900" indent="-342900">
              <a:buFont typeface="+mj-lt"/>
              <a:buAutoNum type="arabicPeriod"/>
            </a:pPr>
            <a:endParaRPr lang="en-US" sz="1800" dirty="0"/>
          </a:p>
          <a:p>
            <a:pPr marL="342900" indent="-342900">
              <a:buFont typeface="+mj-lt"/>
              <a:buAutoNum type="arabicPeriod"/>
            </a:pPr>
            <a:r>
              <a:rPr lang="en-US" sz="1800" dirty="0"/>
              <a:t>Main.js</a:t>
            </a:r>
          </a:p>
          <a:p>
            <a:r>
              <a:rPr lang="en-US" dirty="0"/>
              <a:t> </a:t>
            </a:r>
            <a:endParaRPr lang="en-IN" dirty="0"/>
          </a:p>
        </p:txBody>
      </p:sp>
      <p:pic>
        <p:nvPicPr>
          <p:cNvPr id="4" name="Picture 3">
            <a:extLst>
              <a:ext uri="{FF2B5EF4-FFF2-40B4-BE49-F238E27FC236}">
                <a16:creationId xmlns:a16="http://schemas.microsoft.com/office/drawing/2014/main" id="{FADE52D4-E542-6693-361E-5EF24F303CB8}"/>
              </a:ext>
            </a:extLst>
          </p:cNvPr>
          <p:cNvPicPr>
            <a:picLocks noChangeAspect="1"/>
          </p:cNvPicPr>
          <p:nvPr/>
        </p:nvPicPr>
        <p:blipFill>
          <a:blip r:embed="rId3"/>
          <a:stretch>
            <a:fillRect/>
          </a:stretch>
        </p:blipFill>
        <p:spPr>
          <a:xfrm>
            <a:off x="3500284" y="1371718"/>
            <a:ext cx="8377925" cy="4989871"/>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a:extLst>
              <a:ext uri="{FF2B5EF4-FFF2-40B4-BE49-F238E27FC236}">
                <a16:creationId xmlns:a16="http://schemas.microsoft.com/office/drawing/2014/main" id="{F7F7989A-DECE-3151-EF38-DF0771D8FEF8}"/>
              </a:ext>
            </a:extLst>
          </p:cNvPr>
          <p:cNvPicPr>
            <a:picLocks noChangeAspect="1"/>
          </p:cNvPicPr>
          <p:nvPr/>
        </p:nvPicPr>
        <p:blipFill>
          <a:blip r:embed="rId3"/>
          <a:stretch>
            <a:fillRect/>
          </a:stretch>
        </p:blipFill>
        <p:spPr>
          <a:xfrm>
            <a:off x="640571" y="1015978"/>
            <a:ext cx="11061290" cy="563838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610B53-3B80-208C-3B9D-7D7C81D62163}"/>
              </a:ext>
            </a:extLst>
          </p:cNvPr>
          <p:cNvPicPr>
            <a:picLocks noChangeAspect="1"/>
          </p:cNvPicPr>
          <p:nvPr/>
        </p:nvPicPr>
        <p:blipFill>
          <a:blip r:embed="rId2"/>
          <a:stretch>
            <a:fillRect/>
          </a:stretch>
        </p:blipFill>
        <p:spPr>
          <a:xfrm>
            <a:off x="444952" y="213262"/>
            <a:ext cx="10950635" cy="6644737"/>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8B7FA485-30C3-7FA7-313A-98D356F2F5DE}"/>
              </a:ext>
            </a:extLst>
          </p:cNvPr>
          <p:cNvPicPr>
            <a:picLocks noChangeAspect="1"/>
          </p:cNvPicPr>
          <p:nvPr/>
        </p:nvPicPr>
        <p:blipFill>
          <a:blip r:embed="rId3"/>
          <a:stretch>
            <a:fillRect/>
          </a:stretch>
        </p:blipFill>
        <p:spPr>
          <a:xfrm>
            <a:off x="1237635" y="771747"/>
            <a:ext cx="9096068" cy="60640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5" name="TextBox 4">
            <a:extLst>
              <a:ext uri="{FF2B5EF4-FFF2-40B4-BE49-F238E27FC236}">
                <a16:creationId xmlns:a16="http://schemas.microsoft.com/office/drawing/2014/main" id="{1C40D66B-45A6-A539-62BC-C923679AEA0D}"/>
              </a:ext>
            </a:extLst>
          </p:cNvPr>
          <p:cNvSpPr txBox="1"/>
          <p:nvPr/>
        </p:nvSpPr>
        <p:spPr>
          <a:xfrm>
            <a:off x="475488" y="1012954"/>
            <a:ext cx="7596796" cy="5509200"/>
          </a:xfrm>
          <a:prstGeom prst="rect">
            <a:avLst/>
          </a:prstGeom>
          <a:noFill/>
        </p:spPr>
        <p:txBody>
          <a:bodyPr wrap="square">
            <a:spAutoFit/>
          </a:bodyPr>
          <a:lstStyle/>
          <a:p>
            <a:pPr>
              <a:buNone/>
            </a:pPr>
            <a:r>
              <a:rPr lang="en-IN" sz="1600" dirty="0"/>
              <a:t>The </a:t>
            </a:r>
            <a:r>
              <a:rPr lang="en-IN" sz="1600" b="1" dirty="0"/>
              <a:t>Agentic AI</a:t>
            </a:r>
            <a:r>
              <a:rPr lang="en-IN" sz="1600" dirty="0"/>
              <a:t> in our Smart Study Generator Agent acts as an intelligent study assistant that plans, performs tasks, monitors progress, and adapts study recommendations according to the student's needs.</a:t>
            </a:r>
          </a:p>
          <a:p>
            <a:pPr>
              <a:buNone/>
            </a:pPr>
            <a:endParaRPr lang="en-IN" sz="1600" dirty="0"/>
          </a:p>
          <a:p>
            <a:pPr marL="342900" lvl="0" indent="-342900">
              <a:buFont typeface="Arial" panose="020B0604020202020204" pitchFamily="34" charset="0"/>
              <a:buChar char="•"/>
            </a:pPr>
            <a:r>
              <a:rPr lang="en-IN" sz="1600" b="1" dirty="0"/>
              <a:t>Intelligent Planning:</a:t>
            </a:r>
            <a:r>
              <a:rPr lang="en-IN" sz="1600" dirty="0"/>
              <a:t> </a:t>
            </a:r>
            <a:r>
              <a:rPr lang="en-IN" sz="1600" dirty="0" err="1"/>
              <a:t>Analyzes</a:t>
            </a:r>
            <a:r>
              <a:rPr lang="en-IN" sz="1600" dirty="0"/>
              <a:t> subjects, study goals, available time, and exam dates to create personalized study schedules.</a:t>
            </a:r>
          </a:p>
          <a:p>
            <a:pPr marL="342900" lvl="0" indent="-342900">
              <a:buFont typeface="Arial" panose="020B0604020202020204" pitchFamily="34" charset="0"/>
              <a:buChar char="•"/>
            </a:pPr>
            <a:endParaRPr lang="en-IN" sz="1600" dirty="0"/>
          </a:p>
          <a:p>
            <a:pPr marL="342900" lvl="0" indent="-342900">
              <a:buFont typeface="Arial" panose="020B0604020202020204" pitchFamily="34" charset="0"/>
              <a:buChar char="•"/>
            </a:pPr>
            <a:r>
              <a:rPr lang="en-IN" sz="1600" b="1" dirty="0"/>
              <a:t>Automated Content Generation:</a:t>
            </a:r>
            <a:r>
              <a:rPr lang="en-IN" sz="1600" dirty="0"/>
              <a:t> Generates simplified notes, summaries, quizzes, and flashcards from uploaded study materials.</a:t>
            </a:r>
          </a:p>
          <a:p>
            <a:pPr marL="342900" lvl="0" indent="-342900">
              <a:buFont typeface="Arial" panose="020B0604020202020204" pitchFamily="34" charset="0"/>
              <a:buChar char="•"/>
            </a:pPr>
            <a:endParaRPr lang="en-IN" sz="1600" dirty="0"/>
          </a:p>
          <a:p>
            <a:pPr marL="342900" lvl="0" indent="-342900">
              <a:buFont typeface="Arial" panose="020B0604020202020204" pitchFamily="34" charset="0"/>
              <a:buChar char="•"/>
            </a:pPr>
            <a:r>
              <a:rPr lang="en-IN" sz="1600" b="1" dirty="0"/>
              <a:t>Progress Monitoring:</a:t>
            </a:r>
            <a:r>
              <a:rPr lang="en-IN" sz="1600" dirty="0"/>
              <a:t> Tracks completed tasks and quiz performance to understand the student's learning progress.</a:t>
            </a:r>
          </a:p>
          <a:p>
            <a:pPr marL="342900" lvl="0" indent="-342900">
              <a:buFont typeface="Arial" panose="020B0604020202020204" pitchFamily="34" charset="0"/>
              <a:buChar char="•"/>
            </a:pPr>
            <a:endParaRPr lang="en-IN" sz="1600" dirty="0"/>
          </a:p>
          <a:p>
            <a:pPr marL="342900" lvl="0" indent="-342900">
              <a:buFont typeface="Arial" panose="020B0604020202020204" pitchFamily="34" charset="0"/>
              <a:buChar char="•"/>
            </a:pPr>
            <a:r>
              <a:rPr lang="en-IN" sz="1600" b="1" dirty="0"/>
              <a:t>Adaptive Decision-Making:</a:t>
            </a:r>
            <a:r>
              <a:rPr lang="en-IN" sz="1600" dirty="0"/>
              <a:t> Adjusts study priorities and recommends revision topics based on performance and pending tasks.</a:t>
            </a:r>
          </a:p>
          <a:p>
            <a:pPr marL="342900" lvl="0" indent="-342900">
              <a:buFont typeface="Arial" panose="020B0604020202020204" pitchFamily="34" charset="0"/>
              <a:buChar char="•"/>
            </a:pPr>
            <a:endParaRPr lang="en-IN" sz="1600" dirty="0"/>
          </a:p>
          <a:p>
            <a:pPr marL="342900" lvl="0" indent="-342900">
              <a:buFont typeface="Arial" panose="020B0604020202020204" pitchFamily="34" charset="0"/>
              <a:buChar char="•"/>
            </a:pPr>
            <a:r>
              <a:rPr lang="en-IN" sz="1600" b="1" dirty="0"/>
              <a:t>Personalized Assistance:</a:t>
            </a:r>
            <a:r>
              <a:rPr lang="en-IN" sz="1600" dirty="0"/>
              <a:t> Provides relevant study suggestions to help students focus on important topics and prepare effectively.</a:t>
            </a:r>
          </a:p>
          <a:p>
            <a:pPr marL="342900" lvl="0" indent="-342900">
              <a:buFont typeface="Arial" panose="020B0604020202020204" pitchFamily="34" charset="0"/>
              <a:buChar char="•"/>
            </a:pPr>
            <a:endParaRPr lang="en-IN" sz="1600" dirty="0"/>
          </a:p>
          <a:p>
            <a:pPr>
              <a:buNone/>
            </a:pPr>
            <a:r>
              <a:rPr lang="en-IN" sz="1600" b="1" dirty="0"/>
              <a:t>Key Role:</a:t>
            </a:r>
            <a:r>
              <a:rPr lang="en-IN" sz="1600" dirty="0"/>
              <a:t> Agentic AI makes the system more than a basic study planner by enabling it to plan, execute, monitor, and adapt learning activities with minimal manual effort from students.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CB533786-DD42-370E-346F-6DBEC6B8C370}"/>
              </a:ext>
            </a:extLst>
          </p:cNvPr>
          <p:cNvPicPr>
            <a:picLocks noChangeAspect="1"/>
          </p:cNvPicPr>
          <p:nvPr/>
        </p:nvPicPr>
        <p:blipFill>
          <a:blip r:embed="rId3"/>
          <a:stretch>
            <a:fillRect/>
          </a:stretch>
        </p:blipFill>
        <p:spPr>
          <a:xfrm>
            <a:off x="409144" y="816977"/>
            <a:ext cx="5594555" cy="2851551"/>
          </a:xfrm>
          <a:prstGeom prst="rect">
            <a:avLst/>
          </a:prstGeom>
        </p:spPr>
      </p:pic>
      <p:pic>
        <p:nvPicPr>
          <p:cNvPr id="9" name="Picture 8">
            <a:extLst>
              <a:ext uri="{FF2B5EF4-FFF2-40B4-BE49-F238E27FC236}">
                <a16:creationId xmlns:a16="http://schemas.microsoft.com/office/drawing/2014/main" id="{6A348E7D-198E-7F24-CF1E-DED7071AF160}"/>
              </a:ext>
            </a:extLst>
          </p:cNvPr>
          <p:cNvPicPr>
            <a:picLocks noChangeAspect="1"/>
          </p:cNvPicPr>
          <p:nvPr/>
        </p:nvPicPr>
        <p:blipFill>
          <a:blip r:embed="rId4"/>
          <a:stretch>
            <a:fillRect/>
          </a:stretch>
        </p:blipFill>
        <p:spPr>
          <a:xfrm>
            <a:off x="6213988" y="3743240"/>
            <a:ext cx="5691722" cy="2748657"/>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A05DD22F-1630-033D-2D6F-9BBD9AB9EE2D}"/>
              </a:ext>
            </a:extLst>
          </p:cNvPr>
          <p:cNvPicPr>
            <a:picLocks noChangeAspect="1"/>
          </p:cNvPicPr>
          <p:nvPr/>
        </p:nvPicPr>
        <p:blipFill>
          <a:blip r:embed="rId3"/>
          <a:stretch>
            <a:fillRect/>
          </a:stretch>
        </p:blipFill>
        <p:spPr>
          <a:xfrm>
            <a:off x="629265" y="7362116"/>
            <a:ext cx="5594555" cy="2758509"/>
          </a:xfrm>
          <a:prstGeom prst="rect">
            <a:avLst/>
          </a:prstGeom>
        </p:spPr>
      </p:pic>
      <p:pic>
        <p:nvPicPr>
          <p:cNvPr id="9" name="Picture 8">
            <a:extLst>
              <a:ext uri="{FF2B5EF4-FFF2-40B4-BE49-F238E27FC236}">
                <a16:creationId xmlns:a16="http://schemas.microsoft.com/office/drawing/2014/main" id="{1581C90D-30FB-A911-DC75-A7C667815A6F}"/>
              </a:ext>
            </a:extLst>
          </p:cNvPr>
          <p:cNvPicPr>
            <a:picLocks noChangeAspect="1"/>
          </p:cNvPicPr>
          <p:nvPr/>
        </p:nvPicPr>
        <p:blipFill>
          <a:blip r:embed="rId4"/>
          <a:stretch>
            <a:fillRect/>
          </a:stretch>
        </p:blipFill>
        <p:spPr>
          <a:xfrm>
            <a:off x="117987" y="1386349"/>
            <a:ext cx="5695750" cy="3067664"/>
          </a:xfrm>
          <a:prstGeom prst="rect">
            <a:avLst/>
          </a:prstGeom>
        </p:spPr>
      </p:pic>
      <p:pic>
        <p:nvPicPr>
          <p:cNvPr id="11" name="Picture 10">
            <a:extLst>
              <a:ext uri="{FF2B5EF4-FFF2-40B4-BE49-F238E27FC236}">
                <a16:creationId xmlns:a16="http://schemas.microsoft.com/office/drawing/2014/main" id="{BFE55CAD-632E-17A9-1F9D-4E480E045F9B}"/>
              </a:ext>
            </a:extLst>
          </p:cNvPr>
          <p:cNvPicPr>
            <a:picLocks noChangeAspect="1"/>
          </p:cNvPicPr>
          <p:nvPr/>
        </p:nvPicPr>
        <p:blipFill>
          <a:blip r:embed="rId5"/>
          <a:stretch>
            <a:fillRect/>
          </a:stretch>
        </p:blipFill>
        <p:spPr>
          <a:xfrm>
            <a:off x="6096000" y="3360216"/>
            <a:ext cx="5850194" cy="2850233"/>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pic>
        <p:nvPicPr>
          <p:cNvPr id="5" name="Picture 4">
            <a:extLst>
              <a:ext uri="{FF2B5EF4-FFF2-40B4-BE49-F238E27FC236}">
                <a16:creationId xmlns:a16="http://schemas.microsoft.com/office/drawing/2014/main" id="{EC614D61-5531-7F1A-C63D-1B7CE0116F65}"/>
              </a:ext>
            </a:extLst>
          </p:cNvPr>
          <p:cNvPicPr>
            <a:picLocks noChangeAspect="1"/>
          </p:cNvPicPr>
          <p:nvPr/>
        </p:nvPicPr>
        <p:blipFill>
          <a:blip r:embed="rId3"/>
          <a:stretch>
            <a:fillRect/>
          </a:stretch>
        </p:blipFill>
        <p:spPr>
          <a:xfrm>
            <a:off x="235975" y="1224830"/>
            <a:ext cx="5538211" cy="2835893"/>
          </a:xfrm>
          <a:prstGeom prst="rect">
            <a:avLst/>
          </a:prstGeom>
        </p:spPr>
      </p:pic>
      <p:pic>
        <p:nvPicPr>
          <p:cNvPr id="7" name="Picture 6">
            <a:extLst>
              <a:ext uri="{FF2B5EF4-FFF2-40B4-BE49-F238E27FC236}">
                <a16:creationId xmlns:a16="http://schemas.microsoft.com/office/drawing/2014/main" id="{E847EA68-C613-79A2-B59F-9CC43D12521C}"/>
              </a:ext>
            </a:extLst>
          </p:cNvPr>
          <p:cNvPicPr>
            <a:picLocks noChangeAspect="1"/>
          </p:cNvPicPr>
          <p:nvPr/>
        </p:nvPicPr>
        <p:blipFill>
          <a:blip r:embed="rId4"/>
          <a:stretch>
            <a:fillRect/>
          </a:stretch>
        </p:blipFill>
        <p:spPr>
          <a:xfrm>
            <a:off x="5989231" y="3256714"/>
            <a:ext cx="5966794" cy="2976938"/>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32620" y="150336"/>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5" name="TextBox 4">
            <a:extLst>
              <a:ext uri="{FF2B5EF4-FFF2-40B4-BE49-F238E27FC236}">
                <a16:creationId xmlns:a16="http://schemas.microsoft.com/office/drawing/2014/main" id="{2F77AE26-03E9-8F00-D35C-606A1D7B4D2B}"/>
              </a:ext>
            </a:extLst>
          </p:cNvPr>
          <p:cNvSpPr txBox="1"/>
          <p:nvPr/>
        </p:nvSpPr>
        <p:spPr>
          <a:xfrm>
            <a:off x="432620" y="612001"/>
            <a:ext cx="10972800" cy="6109365"/>
          </a:xfrm>
          <a:prstGeom prst="rect">
            <a:avLst/>
          </a:prstGeom>
          <a:noFill/>
        </p:spPr>
        <p:txBody>
          <a:bodyPr wrap="square">
            <a:spAutoFit/>
          </a:bodyPr>
          <a:lstStyle/>
          <a:p>
            <a:pPr>
              <a:buNone/>
            </a:pPr>
            <a:r>
              <a:rPr lang="en-IN" sz="1700" dirty="0"/>
              <a:t>Our </a:t>
            </a:r>
            <a:r>
              <a:rPr lang="en-IN" sz="1700" b="1" dirty="0"/>
              <a:t>Smart Study Generator Agent</a:t>
            </a:r>
            <a:r>
              <a:rPr lang="en-IN" sz="1700" dirty="0"/>
              <a:t> stands out by combining personalized study planning, AI-generated learning materials, and adaptive progress monitoring in a single platform.</a:t>
            </a:r>
          </a:p>
          <a:p>
            <a:pPr>
              <a:buNone/>
            </a:pPr>
            <a:endParaRPr lang="en-IN" sz="1700" dirty="0"/>
          </a:p>
          <a:p>
            <a:pPr marL="342900" lvl="0" indent="-342900">
              <a:buFont typeface="Arial" panose="020B0604020202020204" pitchFamily="34" charset="0"/>
              <a:buChar char="•"/>
            </a:pPr>
            <a:r>
              <a:rPr lang="en-IN" sz="1700" b="1" dirty="0"/>
              <a:t>Personalized Learning:</a:t>
            </a:r>
            <a:r>
              <a:rPr lang="en-IN" sz="1700" dirty="0"/>
              <a:t> Creates study schedules based on individual goals, available time, subjects, and exam dates.</a:t>
            </a:r>
          </a:p>
          <a:p>
            <a:pPr marL="342900" lvl="0" indent="-342900">
              <a:buFont typeface="Arial" panose="020B0604020202020204" pitchFamily="34" charset="0"/>
              <a:buChar char="•"/>
            </a:pPr>
            <a:endParaRPr lang="en-IN" sz="1700" dirty="0"/>
          </a:p>
          <a:p>
            <a:pPr marL="342900" lvl="0" indent="-342900">
              <a:buFont typeface="Arial" panose="020B0604020202020204" pitchFamily="34" charset="0"/>
              <a:buChar char="•"/>
            </a:pPr>
            <a:r>
              <a:rPr lang="en-IN" sz="1700" b="1" dirty="0"/>
              <a:t>Automated Study Material Generation:</a:t>
            </a:r>
            <a:r>
              <a:rPr lang="en-IN" sz="1700" dirty="0"/>
              <a:t> Converts uploaded study materials into simplified notes, summaries, quizzes, and flashcards.</a:t>
            </a:r>
          </a:p>
          <a:p>
            <a:pPr marL="342900" lvl="0" indent="-342900">
              <a:buFont typeface="Arial" panose="020B0604020202020204" pitchFamily="34" charset="0"/>
              <a:buChar char="•"/>
            </a:pPr>
            <a:endParaRPr lang="en-IN" sz="1700" dirty="0"/>
          </a:p>
          <a:p>
            <a:pPr marL="342900" lvl="0" indent="-342900">
              <a:buFont typeface="Arial" panose="020B0604020202020204" pitchFamily="34" charset="0"/>
              <a:buChar char="•"/>
            </a:pPr>
            <a:r>
              <a:rPr lang="en-IN" sz="1700" b="1" dirty="0"/>
              <a:t>Adaptive Study Planning:</a:t>
            </a:r>
            <a:r>
              <a:rPr lang="en-IN" sz="1700" dirty="0"/>
              <a:t> Recommends changes to study priorities based on quiz performance, task completion, and pending topics.</a:t>
            </a:r>
          </a:p>
          <a:p>
            <a:pPr marL="342900" lvl="0" indent="-342900">
              <a:buFont typeface="Arial" panose="020B0604020202020204" pitchFamily="34" charset="0"/>
              <a:buChar char="•"/>
            </a:pPr>
            <a:endParaRPr lang="en-IN" sz="1700" dirty="0"/>
          </a:p>
          <a:p>
            <a:pPr marL="342900" lvl="0" indent="-342900">
              <a:buFont typeface="Arial" panose="020B0604020202020204" pitchFamily="34" charset="0"/>
              <a:buChar char="•"/>
            </a:pPr>
            <a:r>
              <a:rPr lang="en-IN" sz="1700" b="1" dirty="0"/>
              <a:t>Agentic AI Approach:</a:t>
            </a:r>
            <a:r>
              <a:rPr lang="en-IN" sz="1700" dirty="0"/>
              <a:t> Goes beyond a traditional planner by planning tasks, generating content, monitoring progress, and suggesting next steps.</a:t>
            </a:r>
          </a:p>
          <a:p>
            <a:pPr marL="342900" lvl="0" indent="-342900">
              <a:buFont typeface="Arial" panose="020B0604020202020204" pitchFamily="34" charset="0"/>
              <a:buChar char="•"/>
            </a:pPr>
            <a:endParaRPr lang="en-IN" sz="1700" dirty="0"/>
          </a:p>
          <a:p>
            <a:pPr marL="342900" lvl="0" indent="-342900">
              <a:buFont typeface="Arial" panose="020B0604020202020204" pitchFamily="34" charset="0"/>
              <a:buChar char="•"/>
            </a:pPr>
            <a:r>
              <a:rPr lang="en-IN" sz="1700" b="1" dirty="0"/>
              <a:t>Continuous Learning Support:</a:t>
            </a:r>
            <a:r>
              <a:rPr lang="en-IN" sz="1700" dirty="0"/>
              <a:t> Combines planning, practice, revision, and progress tracking in one application.</a:t>
            </a:r>
          </a:p>
          <a:p>
            <a:pPr marL="342900" lvl="0" indent="-342900">
              <a:buFont typeface="Arial" panose="020B0604020202020204" pitchFamily="34" charset="0"/>
              <a:buChar char="•"/>
            </a:pPr>
            <a:endParaRPr lang="en-IN" sz="1700" dirty="0"/>
          </a:p>
          <a:p>
            <a:pPr marL="342900" lvl="0" indent="-342900">
              <a:buFont typeface="Arial" panose="020B0604020202020204" pitchFamily="34" charset="0"/>
              <a:buChar char="•"/>
            </a:pPr>
            <a:r>
              <a:rPr lang="en-IN" sz="1700" b="1" dirty="0"/>
              <a:t>Reduced Manual Effort:</a:t>
            </a:r>
            <a:r>
              <a:rPr lang="en-IN" sz="1700" dirty="0"/>
              <a:t> Minimizes the time students spend organizing schedules and preparing revision materials.</a:t>
            </a:r>
          </a:p>
          <a:p>
            <a:pPr marL="342900" lvl="0" indent="-342900">
              <a:buFont typeface="Arial" panose="020B0604020202020204" pitchFamily="34" charset="0"/>
              <a:buChar char="•"/>
            </a:pPr>
            <a:endParaRPr lang="en-IN" sz="1700" dirty="0"/>
          </a:p>
          <a:p>
            <a:pPr>
              <a:buNone/>
            </a:pPr>
            <a:r>
              <a:rPr lang="en-IN" sz="1700" b="1" dirty="0"/>
              <a:t>Uniqueness:</a:t>
            </a:r>
            <a:r>
              <a:rPr lang="en-IN" sz="1700" dirty="0"/>
              <a:t> Unlike a basic timetable application, our solution integrates AI-powered content generation with progress-based study recommendations to provide a more personalized and adaptive learning experience.</a:t>
            </a:r>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800" dirty="0" err="1">
                <a:solidFill>
                  <a:srgbClr val="2B3541"/>
                </a:solidFill>
                <a:latin typeface="Times New Roman"/>
                <a:ea typeface="Times New Roman"/>
                <a:cs typeface="Times New Roman"/>
                <a:sym typeface="Times New Roman"/>
              </a:rPr>
              <a:t>Github</a:t>
            </a:r>
            <a:r>
              <a:rPr lang="en-US" sz="2800" dirty="0">
                <a:solidFill>
                  <a:srgbClr val="2B3541"/>
                </a:solidFill>
                <a:latin typeface="Times New Roman"/>
                <a:ea typeface="Times New Roman"/>
                <a:cs typeface="Times New Roman"/>
                <a:sym typeface="Times New Roman"/>
              </a:rPr>
              <a:t> URL –https://github.com/srinidhishapur/StudyMate-AI</a:t>
            </a:r>
          </a:p>
          <a:p>
            <a:pPr>
              <a:buClr>
                <a:srgbClr val="2B3541"/>
              </a:buClr>
              <a:buSzPts val="1850"/>
            </a:pPr>
            <a:endParaRPr lang="en-US" sz="2400" dirty="0"/>
          </a:p>
          <a:p>
            <a:pPr>
              <a:buClr>
                <a:srgbClr val="2B3541"/>
              </a:buClr>
              <a:buSzPts val="1850"/>
            </a:pPr>
            <a:r>
              <a:rPr lang="en-US" sz="2400" dirty="0"/>
              <a:t>(https://github.com/srinidhishapur/StudyMate-AI.git)</a:t>
            </a:r>
            <a:endParaRPr lang="en-IN" sz="3600" dirty="0"/>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520634" y="10365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373626" y="807675"/>
            <a:ext cx="11297740" cy="6008492"/>
          </a:xfrm>
          <a:prstGeom prst="rect">
            <a:avLst/>
          </a:prstGeom>
          <a:noFill/>
          <a:ln>
            <a:noFill/>
          </a:ln>
        </p:spPr>
        <p:txBody>
          <a:bodyPr spcFirstLastPara="1" wrap="square" lIns="0" tIns="0" rIns="0" bIns="0" anchor="t" anchorCtr="0">
            <a:noAutofit/>
          </a:bodyPr>
          <a:lstStyle/>
          <a:p>
            <a:r>
              <a:rPr lang="en-IN" sz="1700" dirty="0"/>
              <a:t>The Smart Study Generator Agent can be enhanced with advanced AI capabilities to provide a more personalized, interactive, and efficient learning experience for students.</a:t>
            </a:r>
          </a:p>
          <a:p>
            <a:endParaRPr lang="en-IN" sz="1700" dirty="0"/>
          </a:p>
          <a:p>
            <a:pPr lvl="0"/>
            <a:r>
              <a:rPr lang="en-IN" sz="1700" b="1" dirty="0"/>
              <a:t>Advanced Personalization:</a:t>
            </a:r>
            <a:r>
              <a:rPr lang="en-IN" sz="1700" dirty="0"/>
              <a:t> Develop smarter study plans that adapt automatically to students' learning speed, performance, and changing priorities.</a:t>
            </a:r>
          </a:p>
          <a:p>
            <a:pPr lvl="0"/>
            <a:endParaRPr lang="en-IN" sz="1700" dirty="0"/>
          </a:p>
          <a:p>
            <a:pPr lvl="0"/>
            <a:r>
              <a:rPr lang="en-IN" sz="1700" b="1" dirty="0"/>
              <a:t>AI Study Assistant:</a:t>
            </a:r>
            <a:r>
              <a:rPr lang="en-IN" sz="1700" dirty="0"/>
              <a:t> Introduce a conversational chatbot to answer questions and explain difficult concepts from study materials.</a:t>
            </a:r>
          </a:p>
          <a:p>
            <a:pPr lvl="0"/>
            <a:endParaRPr lang="en-IN" sz="1700" dirty="0"/>
          </a:p>
          <a:p>
            <a:pPr lvl="0"/>
            <a:r>
              <a:rPr lang="en-IN" sz="1700" b="1" dirty="0"/>
              <a:t>Voice-Based Interaction:</a:t>
            </a:r>
            <a:r>
              <a:rPr lang="en-IN" sz="1700" dirty="0"/>
              <a:t> Allow students to interact with the system using voice commands for easier and faster access.</a:t>
            </a:r>
          </a:p>
          <a:p>
            <a:pPr lvl="0"/>
            <a:endParaRPr lang="en-IN" sz="1700" dirty="0"/>
          </a:p>
          <a:p>
            <a:pPr lvl="0"/>
            <a:r>
              <a:rPr lang="en-IN" sz="1700" b="1" dirty="0"/>
              <a:t>Multilingual Support:</a:t>
            </a:r>
            <a:r>
              <a:rPr lang="en-IN" sz="1700" dirty="0"/>
              <a:t> Generate study materials in multiple languages to support students from different backgrounds.</a:t>
            </a:r>
          </a:p>
          <a:p>
            <a:pPr lvl="0"/>
            <a:endParaRPr lang="en-IN" sz="1700" dirty="0"/>
          </a:p>
          <a:p>
            <a:pPr lvl="0"/>
            <a:r>
              <a:rPr lang="en-IN" sz="1700" b="1" dirty="0"/>
              <a:t>Smart Reminders:</a:t>
            </a:r>
            <a:r>
              <a:rPr lang="en-IN" sz="1700" dirty="0"/>
              <a:t> Provide automatic notifications for pending tasks, upcoming exams, and scheduled revision sessions.</a:t>
            </a:r>
          </a:p>
          <a:p>
            <a:pPr lvl="0"/>
            <a:endParaRPr lang="en-IN" sz="1700" dirty="0"/>
          </a:p>
          <a:p>
            <a:pPr lvl="0"/>
            <a:r>
              <a:rPr lang="en-IN" sz="1700" b="1" dirty="0"/>
              <a:t>Performance Prediction:</a:t>
            </a:r>
            <a:r>
              <a:rPr lang="en-IN" sz="1700" dirty="0"/>
              <a:t> </a:t>
            </a:r>
            <a:r>
              <a:rPr lang="en-IN" sz="1700" dirty="0" err="1"/>
              <a:t>Analyze</a:t>
            </a:r>
            <a:r>
              <a:rPr lang="en-IN" sz="1700" dirty="0"/>
              <a:t> learning progress and quiz results to identify knowledge gaps and recommend areas for improvement.</a:t>
            </a:r>
          </a:p>
          <a:p>
            <a:pPr lvl="0"/>
            <a:endParaRPr lang="en-IN" sz="1700" dirty="0"/>
          </a:p>
          <a:p>
            <a:pPr lvl="0"/>
            <a:r>
              <a:rPr lang="en-IN" sz="1700" b="1" dirty="0"/>
              <a:t>Mobile Application:</a:t>
            </a:r>
            <a:r>
              <a:rPr lang="en-IN" sz="1700" dirty="0"/>
              <a:t> Extend the platform into a mobile app so students can access their study plans and materials anytime, anywhere.</a:t>
            </a:r>
          </a:p>
          <a:p>
            <a:pPr lvl="0"/>
            <a:endParaRPr lang="en-IN" sz="1700" dirty="0"/>
          </a:p>
          <a:p>
            <a:r>
              <a:rPr lang="en-IN" sz="1700" b="1" dirty="0"/>
              <a:t>Future Vision:</a:t>
            </a:r>
            <a:r>
              <a:rPr lang="en-IN" sz="1700" dirty="0"/>
              <a:t> To develop a complete AI-powered learning companion that continuously adapts to students' needs and helps them achieve their academic goals more effectively.</a:t>
            </a: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12" name="Picture 11">
            <a:extLst>
              <a:ext uri="{FF2B5EF4-FFF2-40B4-BE49-F238E27FC236}">
                <a16:creationId xmlns:a16="http://schemas.microsoft.com/office/drawing/2014/main" id="{EB3A7CFB-20BD-2D9F-A222-28939E383DCC}"/>
              </a:ext>
            </a:extLst>
          </p:cNvPr>
          <p:cNvPicPr>
            <a:picLocks noChangeAspect="1"/>
          </p:cNvPicPr>
          <p:nvPr/>
        </p:nvPicPr>
        <p:blipFill>
          <a:blip r:embed="rId2"/>
          <a:srcRect t="37276" b="29319"/>
          <a:stretch>
            <a:fillRect/>
          </a:stretch>
        </p:blipFill>
        <p:spPr>
          <a:xfrm>
            <a:off x="2604903" y="1695962"/>
            <a:ext cx="6253962" cy="466846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CF91147B-09CC-1DBF-2069-FD6348EDB6A8}"/>
              </a:ext>
            </a:extLst>
          </p:cNvPr>
          <p:cNvPicPr>
            <a:picLocks noChangeAspect="1"/>
          </p:cNvPicPr>
          <p:nvPr/>
        </p:nvPicPr>
        <p:blipFill>
          <a:blip r:embed="rId2"/>
          <a:srcRect t="38176" b="28458"/>
          <a:stretch>
            <a:fillRect/>
          </a:stretch>
        </p:blipFill>
        <p:spPr>
          <a:xfrm>
            <a:off x="2594175" y="1077870"/>
            <a:ext cx="6589154" cy="4909977"/>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557</TotalTime>
  <Words>1305</Words>
  <Application>Microsoft Office PowerPoint</Application>
  <PresentationFormat>Widescreen</PresentationFormat>
  <Paragraphs>144</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srinidhi shapur</cp:lastModifiedBy>
  <cp:revision>8</cp:revision>
  <dcterms:created xsi:type="dcterms:W3CDTF">2025-07-08T05:06:56Z</dcterms:created>
  <dcterms:modified xsi:type="dcterms:W3CDTF">2026-10-14T16:47:55Z</dcterms:modified>
</cp:coreProperties>
</file>